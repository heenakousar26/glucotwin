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23960" y="914400"/>
            <a:ext cx="2103120" cy="2103120"/>
          </a:xfrm>
          <a:prstGeom prst="ellipse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29800" y="1920240"/>
            <a:ext cx="1554480" cy="1554480"/>
          </a:xfrm>
          <a:prstGeom prst="ellipse">
            <a:avLst/>
          </a:prstGeom>
          <a:solidFill>
            <a:srgbClr val="1D4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92440" y="2743200"/>
            <a:ext cx="1143000" cy="1143000"/>
          </a:xfrm>
          <a:prstGeom prst="ellipse">
            <a:avLst/>
          </a:prstGeom>
          <a:solidFill>
            <a:srgbClr val="18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7406640" y="4160520"/>
            <a:ext cx="3657600" cy="0"/>
          </a:xfrm>
          <a:prstGeom prst="line">
            <a:avLst/>
          </a:prstGeom>
          <a:ln w="31750">
            <a:solidFill>
              <a:srgbClr val="24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731520"/>
            <a:ext cx="68580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1">
                <a:solidFill>
                  <a:srgbClr val="24D2BE"/>
                </a:solidFill>
                <a:latin typeface="Aptos"/>
              </a:rPr>
              <a:t>HAPPIEST HEALTH • DIGITAL TWIN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6583680" cy="9144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4200" b="1">
                <a:solidFill>
                  <a:srgbClr val="F5F9FF"/>
                </a:solidFill>
                <a:latin typeface="Aptos"/>
              </a:rPr>
              <a:t>GlucoTwin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6675120" cy="5486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300" b="1">
                <a:solidFill>
                  <a:srgbClr val="A4F5E0"/>
                </a:solidFill>
                <a:latin typeface="Aptos"/>
              </a:rPr>
              <a:t>Personalized Glucose Digital Twin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246120"/>
            <a:ext cx="6126480" cy="10515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0">
                <a:solidFill>
                  <a:srgbClr val="ADBCD2"/>
                </a:solidFill>
                <a:latin typeface="Aptos"/>
              </a:rPr>
              <a:t>A two-member team prototype combining synthetic patient records, wearable readings, and machine learning for time-based glucose monitoring.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800600"/>
            <a:ext cx="4846320" cy="82296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4956048"/>
            <a:ext cx="4389120" cy="270843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1" dirty="0">
                <a:solidFill>
                  <a:srgbClr val="F5F9FF"/>
                </a:solidFill>
                <a:latin typeface="Aptos"/>
              </a:rPr>
              <a:t>Team Leader: </a:t>
            </a:r>
            <a:r>
              <a:rPr lang="en-IN" sz="1400" b="1" dirty="0">
                <a:solidFill>
                  <a:srgbClr val="F5F9FF"/>
                </a:solidFill>
                <a:latin typeface="Aptos"/>
              </a:rPr>
              <a:t>KOLIMI HEENA KOUSAR</a:t>
            </a:r>
            <a:endParaRPr sz="1400" b="1" dirty="0">
              <a:solidFill>
                <a:srgbClr val="F5F9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7552" y="5257800"/>
            <a:ext cx="4389120" cy="270843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1" dirty="0">
                <a:solidFill>
                  <a:srgbClr val="F5F9FF"/>
                </a:solidFill>
                <a:latin typeface="Aptos"/>
              </a:rPr>
              <a:t>Team Member: </a:t>
            </a:r>
            <a:r>
              <a:rPr lang="en-IN" sz="1400" b="1" dirty="0">
                <a:solidFill>
                  <a:srgbClr val="F5F9FF"/>
                </a:solidFill>
                <a:latin typeface="Aptos"/>
              </a:rPr>
              <a:t>SHAIK BABA SHAREEF</a:t>
            </a:r>
            <a:endParaRPr sz="1400" b="1" dirty="0">
              <a:solidFill>
                <a:srgbClr val="F5F9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672" y="6172200"/>
            <a:ext cx="71323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0">
                <a:solidFill>
                  <a:srgbClr val="ADBCD2"/>
                </a:solidFill>
                <a:latin typeface="Aptos"/>
              </a:rPr>
              <a:t>Prototype • Synthetic data • Not clinically validated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4864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1">
                <a:solidFill>
                  <a:srgbClr val="24D2BE"/>
                </a:solidFill>
                <a:latin typeface="Aptos"/>
              </a:rPr>
              <a:t>01 / THE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669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60704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0">
                <a:solidFill>
                  <a:srgbClr val="ADBCD2"/>
                </a:solidFill>
                <a:latin typeface="Aptos"/>
              </a:rPr>
              <a:t>Patient records and wearable measurements can be difficult to interpret when viewed separately.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301752"/>
            <a:ext cx="265176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>
                <a:solidFill>
                  <a:srgbClr val="ADBCD2"/>
                </a:solidFill>
                <a:latin typeface="Aptos"/>
              </a:rPr>
              <a:t>GLUCOTWIN / TEAM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>
                <a:solidFill>
                  <a:srgbClr val="ADBCD2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429000" cy="297180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68580" cy="2971800"/>
          </a:xfrm>
          <a:prstGeom prst="rect">
            <a:avLst/>
          </a:prstGeom>
          <a:solidFill>
            <a:srgbClr val="24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301752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>
                <a:solidFill>
                  <a:srgbClr val="F5F9FF"/>
                </a:solidFill>
                <a:latin typeface="Aptos"/>
              </a:rPr>
              <a:t>Disconnected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2990088" cy="21945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ADBCD2"/>
                </a:solidFill>
                <a:latin typeface="Aptos"/>
              </a:defRPr>
            </a:pPr>
            <a:r>
              <a:t>•  Patient profile and wearable readings use different formats.</a:t>
            </a:r>
          </a:p>
          <a:p>
            <a:pPr>
              <a:spcAft>
                <a:spcPts val="900"/>
              </a:spcAft>
              <a:defRPr sz="1500">
                <a:solidFill>
                  <a:srgbClr val="ADBCD2"/>
                </a:solidFill>
                <a:latin typeface="Aptos"/>
              </a:defRPr>
            </a:pPr>
            <a:r>
              <a:t>•  It can be difficult to inspect changes over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057400"/>
            <a:ext cx="3429000" cy="297180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2057400"/>
            <a:ext cx="68580" cy="2971800"/>
          </a:xfrm>
          <a:prstGeom prst="rect">
            <a:avLst/>
          </a:prstGeom>
          <a:solidFill>
            <a:srgbClr val="4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2240280"/>
            <a:ext cx="301752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>
                <a:solidFill>
                  <a:srgbClr val="F5F9FF"/>
                </a:solidFill>
                <a:latin typeface="Aptos"/>
              </a:rPr>
              <a:t>Changing glucose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743200"/>
            <a:ext cx="2990088" cy="21945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ADBCD2"/>
                </a:solidFill>
                <a:latin typeface="Aptos"/>
              </a:defRPr>
            </a:pPr>
            <a:r>
              <a:t>•  Glucose levels vary over time.</a:t>
            </a:r>
          </a:p>
          <a:p>
            <a:pPr>
              <a:spcAft>
                <a:spcPts val="900"/>
              </a:spcAft>
              <a:defRPr sz="1500">
                <a:solidFill>
                  <a:srgbClr val="ADBCD2"/>
                </a:solidFill>
                <a:latin typeface="Aptos"/>
              </a:defRPr>
            </a:pPr>
            <a:r>
              <a:t>•  One reading alone does not show the full trend.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57400"/>
            <a:ext cx="3429000" cy="297180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057400"/>
            <a:ext cx="68580" cy="2971800"/>
          </a:xfrm>
          <a:prstGeom prst="rect">
            <a:avLst/>
          </a:prstGeom>
          <a:solidFill>
            <a:srgbClr val="FFB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240280"/>
            <a:ext cx="301752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>
                <a:solidFill>
                  <a:srgbClr val="F5F9FF"/>
                </a:solidFill>
                <a:latin typeface="Aptos"/>
              </a:rPr>
              <a:t>Our 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743200"/>
            <a:ext cx="2990088" cy="21945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ADBCD2"/>
                </a:solidFill>
                <a:latin typeface="Aptos"/>
              </a:defRPr>
            </a:pPr>
            <a:r>
              <a:t>•  Bring the available information into one view.</a:t>
            </a:r>
          </a:p>
          <a:p>
            <a:pPr>
              <a:spcAft>
                <a:spcPts val="900"/>
              </a:spcAft>
              <a:defRPr sz="1500">
                <a:solidFill>
                  <a:srgbClr val="ADBCD2"/>
                </a:solidFill>
                <a:latin typeface="Aptos"/>
              </a:defRPr>
            </a:pPr>
            <a:r>
              <a:t>•  Demonstrate time-based patient data exploration.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1060704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>
                <a:solidFill>
                  <a:srgbClr val="A4F5E0"/>
                </a:solidFill>
                <a:latin typeface="Aptos"/>
              </a:rPr>
              <a:t>Goal: build a simple digital-twin prototype using synthetic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4864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1">
                <a:solidFill>
                  <a:srgbClr val="24D2BE"/>
                </a:solidFill>
                <a:latin typeface="Aptos"/>
              </a:rPr>
              <a:t>02 /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669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  <a:latin typeface="Aptos"/>
              </a:rPr>
              <a:t>What GlucoTwin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60704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0">
                <a:solidFill>
                  <a:srgbClr val="ADBCD2"/>
                </a:solidFill>
                <a:latin typeface="Aptos"/>
              </a:rPr>
              <a:t>An interactive dashboard for exploring patient information and model-generated glucose-related estimates.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301752"/>
            <a:ext cx="265176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>
                <a:solidFill>
                  <a:srgbClr val="ADBCD2"/>
                </a:solidFill>
                <a:latin typeface="Aptos"/>
              </a:rPr>
              <a:t>GLUCOTWIN / TEAM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>
                <a:solidFill>
                  <a:srgbClr val="ADBCD2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2514600" cy="224028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542032"/>
            <a:ext cx="64008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>
                <a:solidFill>
                  <a:srgbClr val="24D2BE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035808"/>
            <a:ext cx="210312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>
                <a:solidFill>
                  <a:srgbClr val="F5F9FF"/>
                </a:solidFill>
                <a:latin typeface="Aptos"/>
              </a:rPr>
              <a:t>Select patient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657600"/>
            <a:ext cx="2057400" cy="6858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0">
                <a:solidFill>
                  <a:srgbClr val="ADBCD2"/>
                </a:solidFill>
                <a:latin typeface="Aptos"/>
              </a:rPr>
              <a:t>Choose a synthetic patient profile.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3154680"/>
            <a:ext cx="32004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200" b="1">
                <a:solidFill>
                  <a:srgbClr val="24D2BE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331720"/>
            <a:ext cx="2514600" cy="224028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67328" y="2542032"/>
            <a:ext cx="64008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>
                <a:solidFill>
                  <a:srgbClr val="24D2BE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3035808"/>
            <a:ext cx="210312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>
                <a:solidFill>
                  <a:srgbClr val="F5F9FF"/>
                </a:solidFill>
                <a:latin typeface="Aptos"/>
              </a:rPr>
              <a:t>Choose date/time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3657600"/>
            <a:ext cx="2057400" cy="6858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0">
                <a:solidFill>
                  <a:srgbClr val="ADBCD2"/>
                </a:solidFill>
                <a:latin typeface="Aptos"/>
              </a:rPr>
              <a:t>Inspect readings at a selected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3154680"/>
            <a:ext cx="32004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200" b="1">
                <a:solidFill>
                  <a:srgbClr val="24D2BE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331720"/>
            <a:ext cx="2514600" cy="224028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47688" y="2542032"/>
            <a:ext cx="64008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>
                <a:solidFill>
                  <a:srgbClr val="24D2BE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3035808"/>
            <a:ext cx="210312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>
                <a:solidFill>
                  <a:srgbClr val="F5F9FF"/>
                </a:solidFill>
                <a:latin typeface="Aptos"/>
              </a:rPr>
              <a:t>Explore trends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3657600"/>
            <a:ext cx="2057400" cy="6858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0">
                <a:solidFill>
                  <a:srgbClr val="ADBCD2"/>
                </a:solidFill>
                <a:latin typeface="Aptos"/>
              </a:rPr>
              <a:t>View health details and glucose history.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3154680"/>
            <a:ext cx="32004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200" b="1">
                <a:solidFill>
                  <a:srgbClr val="24D2BE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2331720"/>
            <a:ext cx="2514600" cy="224028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28048" y="2542032"/>
            <a:ext cx="64008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>
                <a:solidFill>
                  <a:srgbClr val="24D2BE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3035808"/>
            <a:ext cx="210312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>
                <a:solidFill>
                  <a:srgbClr val="F5F9FF"/>
                </a:solidFill>
                <a:latin typeface="Aptos"/>
              </a:rPr>
              <a:t>Review model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3657600"/>
            <a:ext cx="2057400" cy="6858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0">
                <a:solidFill>
                  <a:srgbClr val="ADBCD2"/>
                </a:solidFill>
                <a:latin typeface="Aptos"/>
              </a:rPr>
              <a:t>See the model's risk estimate.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5074920"/>
            <a:ext cx="10241280" cy="640080"/>
          </a:xfrm>
          <a:prstGeom prst="roundRect">
            <a:avLst/>
          </a:prstGeom>
          <a:solidFill>
            <a:srgbClr val="12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34440" y="5257800"/>
            <a:ext cx="969264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500" b="1">
                <a:solidFill>
                  <a:srgbClr val="A4F5E0"/>
                </a:solidFill>
                <a:latin typeface="Aptos"/>
              </a:rPr>
              <a:t>This is a prototype for data exploration, not clinical decision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4864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1">
                <a:solidFill>
                  <a:srgbClr val="24D2BE"/>
                </a:solidFill>
                <a:latin typeface="Aptos"/>
              </a:rPr>
              <a:t>03 / TECHNICAL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669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60704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0">
                <a:solidFill>
                  <a:srgbClr val="ADBCD2"/>
                </a:solidFill>
                <a:latin typeface="Aptos"/>
              </a:rPr>
              <a:t>CSV-based data pipeline, FastAPI backend, and React frontend.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301752"/>
            <a:ext cx="265176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>
                <a:solidFill>
                  <a:srgbClr val="ADBCD2"/>
                </a:solidFill>
                <a:latin typeface="Aptos"/>
              </a:rPr>
              <a:t>GLUCOTWIN / TEAM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>
                <a:solidFill>
                  <a:srgbClr val="ADBCD2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2423160" cy="82296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249424"/>
            <a:ext cx="20574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600" b="1">
                <a:solidFill>
                  <a:srgbClr val="F5F9FF"/>
                </a:solidFill>
                <a:latin typeface="Aptos"/>
              </a:rPr>
              <a:t>EHR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205740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100" b="0">
                <a:solidFill>
                  <a:srgbClr val="ADBCD2"/>
                </a:solidFill>
                <a:latin typeface="Aptos"/>
              </a:rPr>
              <a:t>Patient profile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63240" y="2514600"/>
            <a:ext cx="1051560" cy="1234439"/>
          </a:xfrm>
          <a:prstGeom prst="line">
            <a:avLst/>
          </a:prstGeom>
          <a:ln w="21590">
            <a:solidFill>
              <a:srgbClr val="24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3429000"/>
            <a:ext cx="2423160" cy="82296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575304"/>
            <a:ext cx="20574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600" b="1">
                <a:solidFill>
                  <a:srgbClr val="F5F9FF"/>
                </a:solidFill>
                <a:latin typeface="Aptos"/>
              </a:rPr>
              <a:t>Wearable 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205740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100" b="0">
                <a:solidFill>
                  <a:srgbClr val="ADBCD2"/>
                </a:solidFill>
                <a:latin typeface="Aptos"/>
              </a:rPr>
              <a:t>Time-series readings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063240" y="3749039"/>
            <a:ext cx="1051560" cy="91441"/>
          </a:xfrm>
          <a:prstGeom prst="line">
            <a:avLst/>
          </a:prstGeom>
          <a:ln w="21590">
            <a:solidFill>
              <a:srgbClr val="24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4360" y="4754880"/>
            <a:ext cx="2423160" cy="82296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901184"/>
            <a:ext cx="20574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600" b="1">
                <a:solidFill>
                  <a:srgbClr val="F5F9FF"/>
                </a:solidFill>
                <a:latin typeface="Aptos"/>
              </a:rP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12080"/>
            <a:ext cx="205740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100" b="0">
                <a:solidFill>
                  <a:srgbClr val="ADBCD2"/>
                </a:solidFill>
                <a:latin typeface="Aptos"/>
              </a:rPr>
              <a:t>Saved model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063240" y="3749039"/>
            <a:ext cx="1051560" cy="1417321"/>
          </a:xfrm>
          <a:prstGeom prst="line">
            <a:avLst/>
          </a:prstGeom>
          <a:ln w="21590">
            <a:solidFill>
              <a:srgbClr val="24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60520" y="2834640"/>
            <a:ext cx="2880360" cy="1828800"/>
          </a:xfrm>
          <a:prstGeom prst="roundRect">
            <a:avLst/>
          </a:prstGeom>
          <a:solidFill>
            <a:srgbClr val="183951"/>
          </a:solidFill>
          <a:ln w="13970">
            <a:solidFill>
              <a:srgbClr val="24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3154680"/>
            <a:ext cx="242316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000" b="1">
                <a:solidFill>
                  <a:srgbClr val="F5F9FF"/>
                </a:solidFill>
                <a:latin typeface="Aptos"/>
              </a:rPr>
              <a:t>FastAPI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703320"/>
            <a:ext cx="2331720" cy="594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400" b="0">
                <a:solidFill>
                  <a:srgbClr val="ADBCD2"/>
                </a:solidFill>
                <a:latin typeface="Aptos"/>
              </a:rPr>
              <a:t>REST endpoints
Data loading • Predictions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86600" y="3749039"/>
            <a:ext cx="914400" cy="0"/>
          </a:xfrm>
          <a:prstGeom prst="line">
            <a:avLst/>
          </a:prstGeom>
          <a:ln w="25400">
            <a:solidFill>
              <a:srgbClr val="24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046720" y="2834640"/>
            <a:ext cx="3337560" cy="1828800"/>
          </a:xfrm>
          <a:prstGeom prst="roundRect">
            <a:avLst/>
          </a:prstGeom>
          <a:solidFill>
            <a:srgbClr val="183951"/>
          </a:solidFill>
          <a:ln w="13970">
            <a:solidFill>
              <a:srgbClr val="4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3154680"/>
            <a:ext cx="288036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000" b="1">
                <a:solidFill>
                  <a:srgbClr val="F5F9FF"/>
                </a:solidFill>
                <a:latin typeface="Aptos"/>
              </a:rPr>
              <a:t>React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703320"/>
            <a:ext cx="2880360" cy="594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400" b="0">
                <a:solidFill>
                  <a:srgbClr val="ADBCD2"/>
                </a:solidFill>
                <a:latin typeface="Aptos"/>
              </a:rPr>
              <a:t>Patient selector • Time controls
Charts • Health indicators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300" b="1">
                <a:solidFill>
                  <a:srgbClr val="A4F5E0"/>
                </a:solidFill>
                <a:latin typeface="Aptos"/>
              </a:rPr>
              <a:t>The current prototype uses CSV files and a saved model; no database is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4864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1">
                <a:solidFill>
                  <a:srgbClr val="24D2BE"/>
                </a:solidFill>
                <a:latin typeface="Aptos"/>
              </a:rPr>
              <a:t>04 / DATA AND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669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  <a:latin typeface="Aptos"/>
              </a:rPr>
              <a:t>Data + machine-learning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60704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0">
                <a:solidFill>
                  <a:srgbClr val="ADBCD2"/>
                </a:solidFill>
                <a:latin typeface="Aptos"/>
              </a:rPr>
              <a:t>The included records are synthetic and intended only for demonstration.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301752"/>
            <a:ext cx="265176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>
                <a:solidFill>
                  <a:srgbClr val="ADBCD2"/>
                </a:solidFill>
                <a:latin typeface="Aptos"/>
              </a:rPr>
              <a:t>GLUCOTWIN / TEAM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>
                <a:solidFill>
                  <a:srgbClr val="ADBCD2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3429000" cy="329184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68580" cy="3291840"/>
          </a:xfrm>
          <a:prstGeom prst="rect">
            <a:avLst/>
          </a:prstGeom>
          <a:solidFill>
            <a:srgbClr val="24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01752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>
                <a:solidFill>
                  <a:srgbClr val="F5F9FF"/>
                </a:solidFill>
                <a:latin typeface="Aptos"/>
              </a:rPr>
              <a:t>Patient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2990088" cy="2514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ADBCD2"/>
                </a:solidFill>
                <a:latin typeface="Aptos"/>
              </a:defRPr>
            </a:pPr>
            <a:r>
              <a:t>•  10 synthetic patient profiles.</a:t>
            </a:r>
          </a:p>
          <a:p>
            <a:pPr>
              <a:spcAft>
                <a:spcPts val="900"/>
              </a:spcAft>
              <a:defRPr sz="1400">
                <a:solidFill>
                  <a:srgbClr val="ADBCD2"/>
                </a:solidFill>
                <a:latin typeface="Aptos"/>
              </a:defRPr>
            </a:pPr>
            <a:r>
              <a:t>•  Age, BMI, HbA1c, blood pressure, medication.</a:t>
            </a:r>
          </a:p>
          <a:p>
            <a:pPr>
              <a:spcAft>
                <a:spcPts val="900"/>
              </a:spcAft>
              <a:defRPr sz="1400">
                <a:solidFill>
                  <a:srgbClr val="ADBCD2"/>
                </a:solidFill>
                <a:latin typeface="Aptos"/>
              </a:defRPr>
            </a:pPr>
            <a:r>
              <a:t>•  CSV-based storage.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011680"/>
            <a:ext cx="3429000" cy="329184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2011680"/>
            <a:ext cx="68580" cy="3291840"/>
          </a:xfrm>
          <a:prstGeom prst="rect">
            <a:avLst/>
          </a:prstGeom>
          <a:solidFill>
            <a:srgbClr val="4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2194560"/>
            <a:ext cx="301752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>
                <a:solidFill>
                  <a:srgbClr val="F5F9FF"/>
                </a:solidFill>
                <a:latin typeface="Aptos"/>
              </a:rPr>
              <a:t>Wearable readings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697480"/>
            <a:ext cx="2990088" cy="2514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ADBCD2"/>
                </a:solidFill>
                <a:latin typeface="Aptos"/>
              </a:defRPr>
            </a:pPr>
            <a:r>
              <a:t>•  Seven days of readings per patient.</a:t>
            </a:r>
          </a:p>
          <a:p>
            <a:pPr>
              <a:spcAft>
                <a:spcPts val="900"/>
              </a:spcAft>
              <a:defRPr sz="1400">
                <a:solidFill>
                  <a:srgbClr val="ADBCD2"/>
                </a:solidFill>
                <a:latin typeface="Aptos"/>
              </a:defRPr>
            </a:pPr>
            <a:r>
              <a:t>•  30-minute intervals.</a:t>
            </a:r>
          </a:p>
          <a:p>
            <a:pPr>
              <a:spcAft>
                <a:spcPts val="900"/>
              </a:spcAft>
              <a:defRPr sz="1400">
                <a:solidFill>
                  <a:srgbClr val="ADBCD2"/>
                </a:solidFill>
                <a:latin typeface="Aptos"/>
              </a:defRPr>
            </a:pPr>
            <a:r>
              <a:t>•  Glucose, heart rate, HRV, steps, sleep, activity.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429000" cy="329184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011680"/>
            <a:ext cx="68580" cy="3291840"/>
          </a:xfrm>
          <a:prstGeom prst="rect">
            <a:avLst/>
          </a:prstGeom>
          <a:solidFill>
            <a:srgbClr val="FFB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194560"/>
            <a:ext cx="301752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>
                <a:solidFill>
                  <a:srgbClr val="F5F9FF"/>
                </a:solidFill>
                <a:latin typeface="Aptos"/>
              </a:rPr>
              <a:t>ML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697480"/>
            <a:ext cx="2990088" cy="2514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ADBCD2"/>
                </a:solidFill>
                <a:latin typeface="Aptos"/>
              </a:defRPr>
            </a:pPr>
            <a:r>
              <a:t>•  Prepare prediction target.</a:t>
            </a:r>
          </a:p>
          <a:p>
            <a:pPr>
              <a:spcAft>
                <a:spcPts val="900"/>
              </a:spcAft>
              <a:defRPr sz="1400">
                <a:solidFill>
                  <a:srgbClr val="ADBCD2"/>
                </a:solidFill>
                <a:latin typeface="Aptos"/>
              </a:defRPr>
            </a:pPr>
            <a:r>
              <a:t>•  Train a Random Forest classifier.</a:t>
            </a:r>
          </a:p>
          <a:p>
            <a:pPr>
              <a:spcAft>
                <a:spcPts val="900"/>
              </a:spcAft>
              <a:defRPr sz="1400">
                <a:solidFill>
                  <a:srgbClr val="ADBCD2"/>
                </a:solidFill>
                <a:latin typeface="Aptos"/>
              </a:defRPr>
            </a:pPr>
            <a:r>
              <a:t>•  Load the saved model in the backend.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60704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400" b="1">
                <a:solidFill>
                  <a:srgbClr val="FF757D"/>
                </a:solidFill>
                <a:latin typeface="Aptos"/>
              </a:rPr>
              <a:t>The model score is not a validated clinical probability.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4864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1">
                <a:solidFill>
                  <a:srgbClr val="24D2BE"/>
                </a:solidFill>
                <a:latin typeface="Aptos"/>
              </a:rPr>
              <a:t>05 / PRODUCT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669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  <a:latin typeface="Aptos"/>
              </a:rPr>
              <a:t>Live dashboard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60704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0">
                <a:solidFill>
                  <a:srgbClr val="ADBCD2"/>
                </a:solidFill>
                <a:latin typeface="Aptos"/>
              </a:rPr>
              <a:t>Add screenshots from the actual GlucoTwin application before presenting.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301752"/>
            <a:ext cx="265176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>
                <a:solidFill>
                  <a:srgbClr val="ADBCD2"/>
                </a:solidFill>
                <a:latin typeface="Aptos"/>
              </a:rPr>
              <a:t>GLUCOTWIN / TEAM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>
                <a:solidFill>
                  <a:srgbClr val="ADBCD2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429000" cy="2971800"/>
          </a:xfrm>
          <a:prstGeom prst="roundRect">
            <a:avLst/>
          </a:prstGeom>
          <a:solidFill>
            <a:srgbClr val="111F35"/>
          </a:solidFill>
          <a:ln w="13970">
            <a:solidFill>
              <a:srgbClr val="3F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920240" y="2560320"/>
            <a:ext cx="960120" cy="658368"/>
          </a:xfrm>
          <a:prstGeom prst="roundRect">
            <a:avLst/>
          </a:prstGeom>
          <a:solidFill>
            <a:srgbClr val="1F3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03120" y="2670048"/>
            <a:ext cx="59436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200" b="1">
                <a:solidFill>
                  <a:srgbClr val="24D2BE"/>
                </a:solidFill>
                <a:latin typeface="Aptos"/>
              </a:rPr>
              <a:t>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520440"/>
            <a:ext cx="30175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900" b="1">
                <a:solidFill>
                  <a:srgbClr val="24D2BE"/>
                </a:solidFill>
                <a:latin typeface="Aptos"/>
              </a:rPr>
              <a:t>SCREENSHOT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22191"/>
            <a:ext cx="301752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700" b="1">
                <a:solidFill>
                  <a:srgbClr val="F5F9FF"/>
                </a:solidFill>
                <a:latin typeface="Aptos"/>
              </a:rPr>
              <a:t>Patient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279392"/>
            <a:ext cx="29260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200" b="0">
                <a:solidFill>
                  <a:srgbClr val="ADBCD2"/>
                </a:solidFill>
                <a:latin typeface="Aptos"/>
              </a:rPr>
              <a:t>Profile and health indicators.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057400"/>
            <a:ext cx="3429000" cy="2971800"/>
          </a:xfrm>
          <a:prstGeom prst="roundRect">
            <a:avLst/>
          </a:prstGeom>
          <a:solidFill>
            <a:srgbClr val="111F35"/>
          </a:solidFill>
          <a:ln w="13970">
            <a:solidFill>
              <a:srgbClr val="3F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605272" y="2560320"/>
            <a:ext cx="960120" cy="658368"/>
          </a:xfrm>
          <a:prstGeom prst="roundRect">
            <a:avLst/>
          </a:prstGeom>
          <a:solidFill>
            <a:srgbClr val="1F3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88152" y="2670048"/>
            <a:ext cx="59436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200" b="1">
                <a:solidFill>
                  <a:srgbClr val="24D2BE"/>
                </a:solidFill>
                <a:latin typeface="Aptos"/>
              </a:rPr>
              <a:t>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20440"/>
            <a:ext cx="30175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900" b="1">
                <a:solidFill>
                  <a:srgbClr val="24D2BE"/>
                </a:solidFill>
                <a:latin typeface="Aptos"/>
              </a:rPr>
              <a:t>SCREENSHOT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822191"/>
            <a:ext cx="301752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700" b="1">
                <a:solidFill>
                  <a:srgbClr val="F5F9FF"/>
                </a:solidFill>
                <a:latin typeface="Aptos"/>
              </a:rPr>
              <a:t>Glucose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4279392"/>
            <a:ext cx="29260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200" b="0">
                <a:solidFill>
                  <a:srgbClr val="ADBCD2"/>
                </a:solidFill>
                <a:latin typeface="Aptos"/>
              </a:rPr>
              <a:t>Time-series chart.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057400"/>
            <a:ext cx="3429000" cy="2971800"/>
          </a:xfrm>
          <a:prstGeom prst="roundRect">
            <a:avLst/>
          </a:prstGeom>
          <a:solidFill>
            <a:srgbClr val="111F35"/>
          </a:solidFill>
          <a:ln w="13970">
            <a:solidFill>
              <a:srgbClr val="3F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281160" y="2560320"/>
            <a:ext cx="960120" cy="658368"/>
          </a:xfrm>
          <a:prstGeom prst="roundRect">
            <a:avLst/>
          </a:prstGeom>
          <a:solidFill>
            <a:srgbClr val="1F3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64040" y="2670048"/>
            <a:ext cx="59436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200" b="1">
                <a:solidFill>
                  <a:srgbClr val="24D2BE"/>
                </a:solidFill>
                <a:latin typeface="Aptos"/>
              </a:rPr>
              <a:t>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520440"/>
            <a:ext cx="30175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900" b="1">
                <a:solidFill>
                  <a:srgbClr val="24D2BE"/>
                </a:solidFill>
                <a:latin typeface="Aptos"/>
              </a:rPr>
              <a:t>SCREENSHOT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3822191"/>
            <a:ext cx="301752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700" b="1">
                <a:solidFill>
                  <a:srgbClr val="F5F9FF"/>
                </a:solidFill>
                <a:latin typeface="Aptos"/>
              </a:rPr>
              <a:t>Patient/time 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4279392"/>
            <a:ext cx="29260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200" b="0">
                <a:solidFill>
                  <a:srgbClr val="ADBCD2"/>
                </a:solidFill>
                <a:latin typeface="Aptos"/>
              </a:rPr>
              <a:t>Switch P001/P003 or change time.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23560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500" b="1">
                <a:solidFill>
                  <a:srgbClr val="A4F5E0"/>
                </a:solidFill>
                <a:latin typeface="Aptos"/>
              </a:rPr>
              <a:t>Demo flow: choose patient → change date/time → review updated dashboard values.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4864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1">
                <a:solidFill>
                  <a:srgbClr val="24D2BE"/>
                </a:solidFill>
                <a:latin typeface="Aptos"/>
              </a:rPr>
              <a:t>06 / TEAM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669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  <a:latin typeface="Aptos"/>
              </a:rPr>
              <a:t>Two-member team and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60704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0">
                <a:solidFill>
                  <a:srgbClr val="ADBCD2"/>
                </a:solidFill>
                <a:latin typeface="Aptos"/>
              </a:rPr>
              <a:t>Use the real contribution split agreed between both teammates.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301752"/>
            <a:ext cx="265176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>
                <a:solidFill>
                  <a:srgbClr val="ADBCD2"/>
                </a:solidFill>
                <a:latin typeface="Aptos"/>
              </a:rPr>
              <a:t>GLUCOTWIN / TEAM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>
                <a:solidFill>
                  <a:srgbClr val="ADBCD2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5166360" cy="320040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68580" cy="3200400"/>
          </a:xfrm>
          <a:prstGeom prst="rect">
            <a:avLst/>
          </a:prstGeom>
          <a:solidFill>
            <a:srgbClr val="24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754880" cy="31701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 dirty="0">
                <a:solidFill>
                  <a:srgbClr val="F5F9FF"/>
                </a:solidFill>
                <a:latin typeface="Aptos"/>
              </a:rPr>
              <a:t>Team Leader — </a:t>
            </a:r>
            <a:r>
              <a:rPr lang="en-IN" sz="1700" b="1" dirty="0">
                <a:solidFill>
                  <a:srgbClr val="F5F9FF"/>
                </a:solidFill>
                <a:latin typeface="Aptos"/>
              </a:rPr>
              <a:t>KOLIMI HEENA KOUSAR</a:t>
            </a:r>
            <a:endParaRPr sz="1700" b="1" dirty="0">
              <a:solidFill>
                <a:srgbClr val="F5F9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4727448" cy="24231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ADBCD2"/>
                </a:solidFill>
                <a:latin typeface="Aptos"/>
              </a:defRPr>
            </a:pPr>
            <a:r>
              <a:t>•  Coordinate the project and presentation.</a:t>
            </a:r>
          </a:p>
          <a:p>
            <a:pPr>
              <a:spcAft>
                <a:spcPts val="900"/>
              </a:spcAft>
              <a:defRPr sz="1500">
                <a:solidFill>
                  <a:srgbClr val="ADBCD2"/>
                </a:solidFill>
                <a:latin typeface="Aptos"/>
              </a:defRPr>
            </a:pPr>
            <a:r>
              <a:t>•  Lead the problem statement and solution walkthrough.</a:t>
            </a:r>
          </a:p>
          <a:p>
            <a:pPr>
              <a:spcAft>
                <a:spcPts val="900"/>
              </a:spcAft>
              <a:defRPr sz="1500">
                <a:solidFill>
                  <a:srgbClr val="ADBCD2"/>
                </a:solidFill>
                <a:latin typeface="Aptos"/>
              </a:defRPr>
            </a:pPr>
            <a:r>
              <a:t>•  Present architecture and overall project outcomes.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57400"/>
            <a:ext cx="5166360" cy="320040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2057400"/>
            <a:ext cx="68580" cy="3200400"/>
          </a:xfrm>
          <a:prstGeom prst="rect">
            <a:avLst/>
          </a:prstGeom>
          <a:solidFill>
            <a:srgbClr val="4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4754880" cy="31701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 dirty="0">
                <a:solidFill>
                  <a:srgbClr val="F5F9FF"/>
                </a:solidFill>
                <a:latin typeface="Aptos"/>
              </a:rPr>
              <a:t>Team Member — </a:t>
            </a:r>
            <a:r>
              <a:rPr lang="en-IN" sz="1700" b="1" dirty="0">
                <a:solidFill>
                  <a:srgbClr val="F5F9FF"/>
                </a:solidFill>
                <a:latin typeface="Aptos"/>
              </a:rPr>
              <a:t>SHAIK BABA SHAREEF</a:t>
            </a:r>
            <a:endParaRPr sz="1700" b="1" dirty="0">
              <a:solidFill>
                <a:srgbClr val="F5F9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2743200"/>
            <a:ext cx="4727448" cy="24231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ADBCD2"/>
                </a:solidFill>
                <a:latin typeface="Aptos"/>
              </a:defRPr>
            </a:pPr>
            <a:r>
              <a:t>•  Explain backend APIs and data processing.</a:t>
            </a:r>
          </a:p>
          <a:p>
            <a:pPr>
              <a:spcAft>
                <a:spcPts val="900"/>
              </a:spcAft>
              <a:defRPr sz="1500">
                <a:solidFill>
                  <a:srgbClr val="ADBCD2"/>
                </a:solidFill>
                <a:latin typeface="Aptos"/>
              </a:defRPr>
            </a:pPr>
            <a:r>
              <a:t>•  Present the dashboard, patient selection, and time controls.</a:t>
            </a:r>
          </a:p>
          <a:p>
            <a:pPr>
              <a:spcAft>
                <a:spcPts val="900"/>
              </a:spcAft>
              <a:defRPr sz="1500">
                <a:solidFill>
                  <a:srgbClr val="ADBCD2"/>
                </a:solidFill>
                <a:latin typeface="Aptos"/>
              </a:defRPr>
            </a:pPr>
            <a:r>
              <a:t>•  Explain the model workflow, testing, and limitations.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69280"/>
            <a:ext cx="1060704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300" b="1">
                <a:solidFill>
                  <a:srgbClr val="FFB75C"/>
                </a:solidFill>
                <a:latin typeface="Aptos"/>
              </a:rPr>
              <a:t>Adjust these roles to match the work each teammate actually completed.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48640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1">
                <a:solidFill>
                  <a:srgbClr val="24D2BE"/>
                </a:solidFill>
                <a:latin typeface="Aptos"/>
              </a:rPr>
              <a:t>07 / VALUE AND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669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800" b="1">
                <a:solidFill>
                  <a:srgbClr val="F5F9FF"/>
                </a:solidFill>
                <a:latin typeface="Aptos"/>
              </a:rPr>
              <a:t>Potential impact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60704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0">
                <a:solidFill>
                  <a:srgbClr val="ADBCD2"/>
                </a:solidFill>
                <a:latin typeface="Aptos"/>
              </a:rPr>
              <a:t>GlucoTwin demonstrates how patient records, wearable time series, and an ML model can be brought into one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301752"/>
            <a:ext cx="265176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>
                <a:solidFill>
                  <a:srgbClr val="ADBCD2"/>
                </a:solidFill>
                <a:latin typeface="Aptos"/>
              </a:rPr>
              <a:t>GLUCOTWIN / TEAM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900" b="1">
                <a:solidFill>
                  <a:srgbClr val="ADBCD2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5166360" cy="315468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68580" cy="3154680"/>
          </a:xfrm>
          <a:prstGeom prst="rect">
            <a:avLst/>
          </a:prstGeom>
          <a:solidFill>
            <a:srgbClr val="24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75488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>
                <a:solidFill>
                  <a:srgbClr val="F5F9FF"/>
                </a:solidFill>
                <a:latin typeface="Aptos"/>
              </a:rPr>
              <a:t>What the prototype demonstrates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4727448" cy="23774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ADBCD2"/>
                </a:solidFill>
                <a:latin typeface="Aptos"/>
              </a:defRPr>
            </a:pPr>
            <a:r>
              <a:t>•  Combines patient and wearable information.</a:t>
            </a:r>
          </a:p>
          <a:p>
            <a:pPr>
              <a:spcAft>
                <a:spcPts val="900"/>
              </a:spcAft>
              <a:defRPr sz="1500">
                <a:solidFill>
                  <a:srgbClr val="ADBCD2"/>
                </a:solidFill>
                <a:latin typeface="Aptos"/>
              </a:defRPr>
            </a:pPr>
            <a:r>
              <a:t>•  Enables time-based exploration.</a:t>
            </a:r>
          </a:p>
          <a:p>
            <a:pPr>
              <a:spcAft>
                <a:spcPts val="900"/>
              </a:spcAft>
              <a:defRPr sz="1500">
                <a:solidFill>
                  <a:srgbClr val="ADBCD2"/>
                </a:solidFill>
                <a:latin typeface="Aptos"/>
              </a:defRPr>
            </a:pPr>
            <a:r>
              <a:t>•  Connects a saved model to an interactive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57400"/>
            <a:ext cx="5166360" cy="315468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2057400"/>
            <a:ext cx="68580" cy="3154680"/>
          </a:xfrm>
          <a:prstGeom prst="rect">
            <a:avLst/>
          </a:prstGeom>
          <a:solidFill>
            <a:srgbClr val="4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475488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>
                <a:solidFill>
                  <a:srgbClr val="F5F9FF"/>
                </a:solidFill>
                <a:latin typeface="Aptos"/>
              </a:rPr>
              <a:t>Future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43200"/>
            <a:ext cx="4727448" cy="23774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ADBCD2"/>
                </a:solidFill>
                <a:latin typeface="Aptos"/>
              </a:defRPr>
            </a:pPr>
            <a:r>
              <a:t>•  Independent model evaluation.</a:t>
            </a:r>
          </a:p>
          <a:p>
            <a:pPr>
              <a:spcAft>
                <a:spcPts val="900"/>
              </a:spcAft>
              <a:defRPr sz="1400">
                <a:solidFill>
                  <a:srgbClr val="ADBCD2"/>
                </a:solidFill>
                <a:latin typeface="Aptos"/>
              </a:defRPr>
            </a:pPr>
            <a:r>
              <a:t>•  Better explainability and reliability.</a:t>
            </a:r>
          </a:p>
          <a:p>
            <a:pPr>
              <a:spcAft>
                <a:spcPts val="900"/>
              </a:spcAft>
              <a:defRPr sz="1400">
                <a:solidFill>
                  <a:srgbClr val="ADBCD2"/>
                </a:solidFill>
                <a:latin typeface="Aptos"/>
              </a:defRPr>
            </a:pPr>
            <a:r>
              <a:t>•  Consent, privacy, and secure access.</a:t>
            </a:r>
          </a:p>
          <a:p>
            <a:pPr>
              <a:spcAft>
                <a:spcPts val="900"/>
              </a:spcAft>
              <a:defRPr sz="1400">
                <a:solidFill>
                  <a:srgbClr val="ADBCD2"/>
                </a:solidFill>
                <a:latin typeface="Aptos"/>
              </a:defRPr>
            </a:pPr>
            <a:r>
              <a:t>•  Clinical review before real-world 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532120"/>
            <a:ext cx="10332720" cy="502920"/>
          </a:xfrm>
          <a:prstGeom prst="roundRect">
            <a:avLst/>
          </a:prstGeom>
          <a:solidFill>
            <a:srgbClr val="41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5669280"/>
            <a:ext cx="996696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300" b="1">
                <a:solidFill>
                  <a:srgbClr val="FFC2C7"/>
                </a:solidFill>
                <a:latin typeface="Aptos"/>
              </a:rPr>
              <a:t>No clinical validation has been performed; not for diagnosis or treatment.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55279" y="0"/>
            <a:ext cx="4233672" cy="6858000"/>
          </a:xfrm>
          <a:prstGeom prst="rect">
            <a:avLst/>
          </a:prstGeom>
          <a:solidFill>
            <a:srgbClr val="10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49640" y="1143000"/>
            <a:ext cx="1325880" cy="1325880"/>
          </a:xfrm>
          <a:prstGeom prst="ellipse">
            <a:avLst/>
          </a:prstGeom>
          <a:solidFill>
            <a:srgbClr val="184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55480" y="1920240"/>
            <a:ext cx="1691640" cy="1691640"/>
          </a:xfrm>
          <a:prstGeom prst="ellipse">
            <a:avLst/>
          </a:prstGeom>
          <a:solidFill>
            <a:srgbClr val="1C5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03920" y="3200400"/>
            <a:ext cx="914400" cy="914400"/>
          </a:xfrm>
          <a:prstGeom prst="ellipse">
            <a:avLst/>
          </a:prstGeom>
          <a:solidFill>
            <a:srgbClr val="227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658368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1">
                <a:solidFill>
                  <a:srgbClr val="24D2BE"/>
                </a:solidFill>
                <a:latin typeface="Aptos"/>
              </a:rPr>
              <a:t>HAPPIEST HEALTH • DIGITAL TWIN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6400800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4000" b="1">
                <a:solidFill>
                  <a:srgbClr val="F5F9FF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560320"/>
            <a:ext cx="6309360" cy="10972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800" b="0">
                <a:solidFill>
                  <a:srgbClr val="ADBCD2"/>
                </a:solidFill>
                <a:latin typeface="Aptos"/>
              </a:rPr>
              <a:t>GlucoTwin: a prototype for exploring personalized glucose monitoring using synthetic health data, wearable readings, and machine learning.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160520"/>
            <a:ext cx="6309360" cy="960120"/>
          </a:xfrm>
          <a:prstGeom prst="roundRect">
            <a:avLst/>
          </a:prstGeom>
          <a:solidFill>
            <a:srgbClr val="16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192024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200" b="1">
                <a:solidFill>
                  <a:srgbClr val="24D2BE"/>
                </a:solidFill>
                <a:latin typeface="Aptos"/>
              </a:rPr>
              <a:t>GitHub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99432"/>
            <a:ext cx="566928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0">
                <a:solidFill>
                  <a:srgbClr val="F5F9FF"/>
                </a:solidFill>
                <a:latin typeface="Aptos"/>
              </a:rPr>
              <a:t>[Paste the actual GitHub repository URL]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694944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1">
                <a:solidFill>
                  <a:srgbClr val="ADBCD2"/>
                </a:solidFill>
                <a:latin typeface="Aptos"/>
              </a:rPr>
              <a:t>Team Leader: [Friend's Full Name]  •  Team Member: [Your Full Name]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72200"/>
            <a:ext cx="71323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900" b="0">
                <a:solidFill>
                  <a:srgbClr val="ADBCD2"/>
                </a:solidFill>
                <a:latin typeface="Aptos"/>
              </a:rPr>
              <a:t>Synthetic data • Educational prototype • Not clinically validated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755</Words>
  <Application>Microsoft Office PowerPoint</Application>
  <PresentationFormat>Widescreen</PresentationFormat>
  <Paragraphs>131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GlucoTwin — Two-Member Team Presentation</dc:title>
  <dc:subject>Happiest Health Digital Twin Challenge 2026</dc:subject>
  <dc:creator>GlucoTwin Team</dc:creator>
  <cp:keywords/>
  <dc:description>generated using python-pptx</dc:description>
  <cp:lastModifiedBy>Heena Kousar</cp:lastModifiedBy>
  <cp:revision>2</cp:revision>
  <dcterms:created xsi:type="dcterms:W3CDTF">2013-01-27T09:14:16Z</dcterms:created>
  <dcterms:modified xsi:type="dcterms:W3CDTF">2026-10-12T05:01:41Z</dcterms:modified>
  <cp:category/>
</cp:coreProperties>
</file>